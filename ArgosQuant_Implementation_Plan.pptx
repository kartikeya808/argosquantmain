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1">
                <a:solidFill>
                  <a:srgbClr val="000000"/>
                </a:solidFill>
                <a:latin typeface="Times New Roman"/>
              </a:defRPr>
            </a:pPr>
            <a:r>
              <a:t>INTELLIGENT STOCK PORTFOLIO &amp; RISK ANALYTICS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231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0E204F"/>
                </a:solidFill>
                <a:latin typeface="Times New Roman"/>
              </a:defRPr>
            </a:pPr>
            <a:r>
              <a:t>ArgosQuant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2011680" cy="457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794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000000"/>
                </a:solidFill>
                <a:latin typeface="Times New Roman"/>
              </a:defRPr>
            </a:pPr>
            <a:r>
              <a:t>Architecture, Tech Stack &amp; Implementation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E204F"/>
                </a:solidFill>
                <a:latin typeface="Times New Roman"/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05840" cy="411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508760"/>
            <a:ext cx="118872" cy="118872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53312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 i="0">
                <a:solidFill>
                  <a:srgbClr val="000000"/>
                </a:solidFill>
                <a:latin typeface="Times New Roman"/>
              </a:defRPr>
            </a:pPr>
            <a:r>
              <a:t>Project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075688"/>
            <a:ext cx="118872" cy="118872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2024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 i="0">
                <a:solidFill>
                  <a:srgbClr val="000000"/>
                </a:solidFill>
                <a:latin typeface="Times New Roman"/>
              </a:defRPr>
            </a:pPr>
            <a:r>
              <a:t>System Architecture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642616"/>
            <a:ext cx="118872" cy="118872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87168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 i="0">
                <a:solidFill>
                  <a:srgbClr val="000000"/>
                </a:solidFill>
                <a:latin typeface="Times New Roman"/>
              </a:defRPr>
            </a:pPr>
            <a:r>
              <a:t>AI Assistant Design Constraint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209544"/>
            <a:ext cx="118872" cy="118872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54096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 i="0">
                <a:solidFill>
                  <a:srgbClr val="000000"/>
                </a:solidFill>
                <a:latin typeface="Times New Roman"/>
              </a:defRPr>
            </a:pPr>
            <a:r>
              <a:t>Finalized Tech Stack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776472"/>
            <a:ext cx="118872" cy="118872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21024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 i="0">
                <a:solidFill>
                  <a:srgbClr val="000000"/>
                </a:solidFill>
                <a:latin typeface="Times New Roman"/>
              </a:defRPr>
            </a:pPr>
            <a:r>
              <a:t>Modular Folder Structure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343400"/>
            <a:ext cx="118872" cy="118872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187952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 i="0">
                <a:solidFill>
                  <a:srgbClr val="000000"/>
                </a:solidFill>
                <a:latin typeface="Times New Roman"/>
              </a:defRPr>
            </a:pPr>
            <a:r>
              <a:t>Implementation Plan — 8 Phases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910328"/>
            <a:ext cx="118872" cy="118872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75488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 i="0">
                <a:solidFill>
                  <a:srgbClr val="000000"/>
                </a:solidFill>
                <a:latin typeface="Times New Roman"/>
              </a:defRPr>
            </a:pPr>
            <a:r>
              <a:t>Non-Functional Requirements &amp; Open Questions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41908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000000"/>
                </a:solidFill>
                <a:latin typeface="Times New Roman"/>
              </a:defRPr>
            </a:pPr>
            <a:r>
              <a:t>2 / 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190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000000"/>
                </a:solidFill>
                <a:latin typeface="Times New Roman"/>
              </a:defRPr>
            </a:pPr>
            <a:r>
              <a:t>ArgosQuant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E204F"/>
                </a:solidFill>
                <a:latin typeface="Times New Roman"/>
              </a:defRPr>
            </a:pPr>
            <a: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05840" cy="411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508760"/>
            <a:ext cx="118872" cy="118872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53312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0">
                <a:solidFill>
                  <a:srgbClr val="000000"/>
                </a:solidFill>
                <a:latin typeface="Times New Roman"/>
              </a:defRPr>
            </a:pPr>
            <a:r>
              <a:t>Portfolio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746504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1">
                <a:solidFill>
                  <a:srgbClr val="000000"/>
                </a:solidFill>
                <a:latin typeface="Times New Roman"/>
              </a:defRPr>
            </a:pPr>
            <a:r>
              <a:t>Holdings, buy/sell transactions, realized &amp; unrealized P&amp;L, allocation by stock/sector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313432"/>
            <a:ext cx="118872" cy="118872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57984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0">
                <a:solidFill>
                  <a:srgbClr val="000000"/>
                </a:solidFill>
                <a:latin typeface="Times New Roman"/>
              </a:defRPr>
            </a:pPr>
            <a:r>
              <a:t>Market Data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551176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1">
                <a:solidFill>
                  <a:srgbClr val="000000"/>
                </a:solidFill>
                <a:latin typeface="Times New Roman"/>
              </a:defRPr>
            </a:pPr>
            <a:r>
              <a:t>Current &amp; historical prices, caching, freshness/error handling, watchlists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118104"/>
            <a:ext cx="118872" cy="118872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962656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0">
                <a:solidFill>
                  <a:srgbClr val="000000"/>
                </a:solidFill>
                <a:latin typeface="Times New Roman"/>
              </a:defRPr>
            </a:pPr>
            <a:r>
              <a:t>Quantitative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355848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1">
                <a:solidFill>
                  <a:srgbClr val="000000"/>
                </a:solidFill>
                <a:latin typeface="Times New Roman"/>
              </a:defRPr>
            </a:pPr>
            <a:r>
              <a:t>Returns, volatility, Sharpe, beta, VaR, drawdown, correlation, risk score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922776"/>
            <a:ext cx="118872" cy="118872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67328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0">
                <a:solidFill>
                  <a:srgbClr val="000000"/>
                </a:solidFill>
                <a:latin typeface="Times New Roman"/>
              </a:defRPr>
            </a:pPr>
            <a:r>
              <a:t>Scenario &amp; Stress Testing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16052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1">
                <a:solidFill>
                  <a:srgbClr val="000000"/>
                </a:solidFill>
                <a:latin typeface="Times New Roman"/>
              </a:defRPr>
            </a:pPr>
            <a:r>
              <a:t>Deterministic what-if simulations — never mutates real holdings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727448"/>
            <a:ext cx="118872" cy="118872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57200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0">
                <a:solidFill>
                  <a:srgbClr val="000000"/>
                </a:solidFill>
                <a:latin typeface="Times New Roman"/>
              </a:defRPr>
            </a:pPr>
            <a:r>
              <a:t>Dashboard &amp; Reports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965192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1">
                <a:solidFill>
                  <a:srgbClr val="000000"/>
                </a:solidFill>
                <a:latin typeface="Times New Roman"/>
              </a:defRPr>
            </a:pPr>
            <a:r>
              <a:t>Centralized visualization, CSV import/export, generated reports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5532120"/>
            <a:ext cx="118872" cy="118872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376672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0">
                <a:solidFill>
                  <a:srgbClr val="000000"/>
                </a:solidFill>
                <a:latin typeface="Times New Roman"/>
              </a:defRPr>
            </a:pPr>
            <a:r>
              <a:t>AI Portfolio Assistant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5769864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1">
                <a:solidFill>
                  <a:srgbClr val="000000"/>
                </a:solidFill>
                <a:latin typeface="Times New Roman"/>
              </a:defRPr>
            </a:pPr>
            <a:r>
              <a:t>Explains verified metrics in natural language — never computes them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28655" y="641908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000000"/>
                </a:solidFill>
                <a:latin typeface="Times New Roman"/>
              </a:defRPr>
            </a:pPr>
            <a:r>
              <a:t>3 / 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190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000000"/>
                </a:solidFill>
                <a:latin typeface="Times New Roman"/>
              </a:defRPr>
            </a:pPr>
            <a:r>
              <a:t>ArgosQuant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E204F"/>
                </a:solidFill>
                <a:latin typeface="Times New Roman"/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05840" cy="411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8720" y="1463040"/>
            <a:ext cx="4206240" cy="685800"/>
          </a:xfrm>
          <a:prstGeom prst="rect">
            <a:avLst/>
          </a:prstGeom>
          <a:solidFill>
            <a:srgbClr val="E3E3E3"/>
          </a:solidFill>
          <a:ln w="19050">
            <a:solidFill>
              <a:srgbClr val="0E2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463040"/>
            <a:ext cx="42062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0E204F"/>
                </a:solidFill>
                <a:latin typeface="Times New Roman"/>
              </a:defRPr>
            </a:pPr>
            <a:r>
              <a:t>JavaFX Desktop Client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0" y="1463040"/>
            <a:ext cx="4206240" cy="685800"/>
          </a:xfrm>
          <a:prstGeom prst="rect">
            <a:avLst/>
          </a:prstGeom>
          <a:solidFill>
            <a:srgbClr val="E3E3E3"/>
          </a:solidFill>
          <a:ln w="19050">
            <a:solidFill>
              <a:srgbClr val="0E2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463040"/>
            <a:ext cx="42062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0E204F"/>
                </a:solidFill>
                <a:latin typeface="Times New Roman"/>
              </a:defRPr>
            </a:pPr>
            <a:r>
              <a:t>Web Client (JSP + Servlets)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91840" y="2148840"/>
            <a:ext cx="0" cy="45720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869680" y="2148840"/>
            <a:ext cx="0" cy="45720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188720" y="2697480"/>
            <a:ext cx="9784080" cy="685800"/>
          </a:xfrm>
          <a:prstGeom prst="rect">
            <a:avLst/>
          </a:prstGeom>
          <a:solidFill>
            <a:srgbClr val="0E204F"/>
          </a:solidFill>
          <a:ln>
            <a:solidFill>
              <a:srgbClr val="0E2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697480"/>
            <a:ext cx="9784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Times New Roman"/>
              </a:defRPr>
            </a:pPr>
            <a:r>
              <a:t>Shared Business / Service Layer  (argosquant-core)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17520" y="3383280"/>
            <a:ext cx="0" cy="41148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80760" y="3383280"/>
            <a:ext cx="0" cy="41148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235440" y="3383280"/>
            <a:ext cx="0" cy="41148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188720" y="3794760"/>
            <a:ext cx="3200400" cy="640080"/>
          </a:xfrm>
          <a:prstGeom prst="rect">
            <a:avLst/>
          </a:prstGeom>
          <a:solidFill>
            <a:srgbClr val="E3E3E3"/>
          </a:solidFill>
          <a:ln w="19050">
            <a:solidFill>
              <a:srgbClr val="0E2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3794760"/>
            <a:ext cx="3200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50" b="1" i="0">
                <a:solidFill>
                  <a:srgbClr val="0E204F"/>
                </a:solidFill>
                <a:latin typeface="Times New Roman"/>
              </a:defRPr>
            </a:pPr>
            <a:r>
              <a:t>Portfolio Service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00600" y="3794760"/>
            <a:ext cx="3200400" cy="640080"/>
          </a:xfrm>
          <a:prstGeom prst="rect">
            <a:avLst/>
          </a:prstGeom>
          <a:solidFill>
            <a:srgbClr val="E3E3E3"/>
          </a:solidFill>
          <a:ln w="19050">
            <a:solidFill>
              <a:srgbClr val="0E2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3794760"/>
            <a:ext cx="3200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50" b="1" i="0">
                <a:solidFill>
                  <a:srgbClr val="0E204F"/>
                </a:solidFill>
                <a:latin typeface="Times New Roman"/>
              </a:defRPr>
            </a:pPr>
            <a:r>
              <a:t>Risk / Analytics Engine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3794760"/>
            <a:ext cx="3200400" cy="640080"/>
          </a:xfrm>
          <a:prstGeom prst="rect">
            <a:avLst/>
          </a:prstGeom>
          <a:solidFill>
            <a:srgbClr val="E3E3E3"/>
          </a:solidFill>
          <a:ln w="19050">
            <a:solidFill>
              <a:srgbClr val="0E2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3794760"/>
            <a:ext cx="3200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50" b="1" i="0">
                <a:solidFill>
                  <a:srgbClr val="0E204F"/>
                </a:solidFill>
                <a:latin typeface="Times New Roman"/>
              </a:defRPr>
            </a:pPr>
            <a:r>
              <a:t>Market Service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788920" y="4434840"/>
            <a:ext cx="1828800" cy="45720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400800" y="4434840"/>
            <a:ext cx="0" cy="45720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8183880" y="4434840"/>
            <a:ext cx="1828800" cy="45720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2926080" y="5074920"/>
            <a:ext cx="3291840" cy="640080"/>
          </a:xfrm>
          <a:prstGeom prst="rect">
            <a:avLst/>
          </a:prstGeom>
          <a:solidFill>
            <a:srgbClr val="0E204F"/>
          </a:solidFill>
          <a:ln>
            <a:solidFill>
              <a:srgbClr val="0E2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26080" y="5074920"/>
            <a:ext cx="3291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50" b="1" i="0">
                <a:solidFill>
                  <a:srgbClr val="FFFFFF"/>
                </a:solidFill>
                <a:latin typeface="Times New Roman"/>
              </a:defRPr>
            </a:pPr>
            <a:r>
              <a:t>PostgreSQL (JDBC)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5074920"/>
            <a:ext cx="2834640" cy="640080"/>
          </a:xfrm>
          <a:prstGeom prst="rect">
            <a:avLst/>
          </a:prstGeom>
          <a:solidFill>
            <a:srgbClr val="0E204F"/>
          </a:solidFill>
          <a:ln>
            <a:solidFill>
              <a:srgbClr val="0E2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5074920"/>
            <a:ext cx="2834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50" b="1" i="0">
                <a:solidFill>
                  <a:srgbClr val="FFFFFF"/>
                </a:solidFill>
                <a:latin typeface="Times New Roman"/>
              </a:defRPr>
            </a:pPr>
            <a:r>
              <a:t>Redis Cache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943600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0" i="1">
                <a:solidFill>
                  <a:srgbClr val="000000"/>
                </a:solidFill>
                <a:latin typeface="Times New Roman"/>
              </a:defRPr>
            </a:pPr>
            <a:r>
              <a:t>External Market-Data API accessed concurrently — one ExecutorService task per symbol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28655" y="641908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000000"/>
                </a:solidFill>
                <a:latin typeface="Times New Roman"/>
              </a:defRPr>
            </a:pPr>
            <a:r>
              <a:t>4 / 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190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000000"/>
                </a:solidFill>
                <a:latin typeface="Times New Roman"/>
              </a:defRPr>
            </a:pPr>
            <a:r>
              <a:t>ArgosQuant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E204F"/>
                </a:solidFill>
                <a:latin typeface="Times New Roman"/>
              </a:defRPr>
            </a:pPr>
            <a:r>
              <a:t>AI Assistant: One-Directional Data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05840" cy="411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3727" y="2377440"/>
            <a:ext cx="1691640" cy="1188720"/>
          </a:xfrm>
          <a:prstGeom prst="rect">
            <a:avLst/>
          </a:prstGeom>
          <a:solidFill>
            <a:srgbClr val="E3E3E3"/>
          </a:solidFill>
          <a:ln w="19050">
            <a:solidFill>
              <a:srgbClr val="0E2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3727" y="2377440"/>
            <a:ext cx="16916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0E204F"/>
                </a:solidFill>
                <a:latin typeface="Times New Roman"/>
              </a:defRPr>
            </a:pPr>
            <a:r>
              <a:t>User</a:t>
            </a:r>
          </a:p>
          <a:p>
            <a:pPr algn="ctr">
              <a:defRPr sz="1300" b="1" i="0">
                <a:solidFill>
                  <a:srgbClr val="0E204F"/>
                </a:solidFill>
                <a:latin typeface="Times New Roman"/>
              </a:defRPr>
            </a:pPr>
            <a:r>
              <a:t>Question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55367" y="2971800"/>
            <a:ext cx="182880" cy="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438247" y="2377440"/>
            <a:ext cx="1691640" cy="1188720"/>
          </a:xfrm>
          <a:prstGeom prst="rect">
            <a:avLst/>
          </a:prstGeom>
          <a:solidFill>
            <a:srgbClr val="E3E3E3"/>
          </a:solidFill>
          <a:ln w="19050">
            <a:solidFill>
              <a:srgbClr val="0E2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38247" y="2377440"/>
            <a:ext cx="16916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0E204F"/>
                </a:solidFill>
                <a:latin typeface="Times New Roman"/>
              </a:defRPr>
            </a:pPr>
            <a:r>
              <a:t>Spring Boot</a:t>
            </a:r>
          </a:p>
          <a:p>
            <a:pPr algn="ctr">
              <a:defRPr sz="1300" b="1" i="0">
                <a:solidFill>
                  <a:srgbClr val="0E204F"/>
                </a:solidFill>
                <a:latin typeface="Times New Roman"/>
              </a:defRPr>
            </a:pPr>
            <a:r>
              <a:t>/ Java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29887" y="2971800"/>
            <a:ext cx="182880" cy="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312767" y="2377440"/>
            <a:ext cx="1691640" cy="1188720"/>
          </a:xfrm>
          <a:prstGeom prst="rect">
            <a:avLst/>
          </a:prstGeom>
          <a:solidFill>
            <a:srgbClr val="E3E3E3"/>
          </a:solidFill>
          <a:ln w="19050">
            <a:solidFill>
              <a:srgbClr val="0E2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2767" y="2377440"/>
            <a:ext cx="16916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0E204F"/>
                </a:solidFill>
                <a:latin typeface="Times New Roman"/>
              </a:defRPr>
            </a:pPr>
            <a:r>
              <a:t>Portfolio &amp;</a:t>
            </a:r>
          </a:p>
          <a:p>
            <a:pPr algn="ctr">
              <a:defRPr sz="1300" b="1" i="0">
                <a:solidFill>
                  <a:srgbClr val="0E204F"/>
                </a:solidFill>
                <a:latin typeface="Times New Roman"/>
              </a:defRPr>
            </a:pPr>
            <a:r>
              <a:t>Analytics Services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04407" y="2971800"/>
            <a:ext cx="182880" cy="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187287" y="2377440"/>
            <a:ext cx="1691640" cy="1188720"/>
          </a:xfrm>
          <a:prstGeom prst="rect">
            <a:avLst/>
          </a:prstGeom>
          <a:solidFill>
            <a:srgbClr val="E3E3E3"/>
          </a:solidFill>
          <a:ln w="19050">
            <a:solidFill>
              <a:srgbClr val="0E2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87287" y="2377440"/>
            <a:ext cx="16916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0E204F"/>
                </a:solidFill>
                <a:latin typeface="Times New Roman"/>
              </a:defRPr>
            </a:pPr>
            <a:r>
              <a:t>Verified</a:t>
            </a:r>
          </a:p>
          <a:p>
            <a:pPr algn="ctr">
              <a:defRPr sz="1300" b="1" i="0">
                <a:solidFill>
                  <a:srgbClr val="0E204F"/>
                </a:solidFill>
                <a:latin typeface="Times New Roman"/>
              </a:defRPr>
            </a:pPr>
            <a:r>
              <a:t>Metrics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878927" y="2971800"/>
            <a:ext cx="182880" cy="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8061807" y="2377440"/>
            <a:ext cx="1691640" cy="1188720"/>
          </a:xfrm>
          <a:prstGeom prst="rect">
            <a:avLst/>
          </a:prstGeom>
          <a:solidFill>
            <a:srgbClr val="0E204F"/>
          </a:solidFill>
          <a:ln>
            <a:solidFill>
              <a:srgbClr val="0E2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61807" y="2377440"/>
            <a:ext cx="16916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Times New Roman"/>
              </a:defRPr>
            </a:pPr>
            <a:r>
              <a:t>LLM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753447" y="2971800"/>
            <a:ext cx="182880" cy="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9936327" y="2377440"/>
            <a:ext cx="1691640" cy="1188720"/>
          </a:xfrm>
          <a:prstGeom prst="rect">
            <a:avLst/>
          </a:prstGeom>
          <a:solidFill>
            <a:srgbClr val="E3E3E3"/>
          </a:solidFill>
          <a:ln w="19050">
            <a:solidFill>
              <a:srgbClr val="0E2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36327" y="2377440"/>
            <a:ext cx="16916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0E204F"/>
                </a:solidFill>
                <a:latin typeface="Times New Roman"/>
              </a:defRPr>
            </a:pPr>
            <a:r>
              <a:t>Natural-Language</a:t>
            </a:r>
          </a:p>
          <a:p>
            <a:pPr algn="ctr">
              <a:defRPr sz="1300" b="1" i="0">
                <a:solidFill>
                  <a:srgbClr val="0E204F"/>
                </a:solidFill>
                <a:latin typeface="Times New Roman"/>
              </a:defRPr>
            </a:pPr>
            <a:r>
              <a:t>Explanation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4206240"/>
            <a:ext cx="1036015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000000"/>
                </a:solidFill>
                <a:latin typeface="Times New Roman"/>
              </a:defRPr>
            </a:pPr>
            <a:r>
              <a:t>The LLM never touches raw DB/market data and cannot compute or influence financial figures.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9834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000000"/>
                </a:solidFill>
                <a:latin typeface="Times New Roman"/>
              </a:defRPr>
            </a:pPr>
            <a:r>
              <a:t>If the AI/LLM service is unavailable, the core application continues to function normally.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1908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000000"/>
                </a:solidFill>
                <a:latin typeface="Times New Roman"/>
              </a:defRPr>
            </a:pPr>
            <a:r>
              <a:t>5 / 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190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000000"/>
                </a:solidFill>
                <a:latin typeface="Times New Roman"/>
              </a:defRPr>
            </a:pPr>
            <a:r>
              <a:t>ArgosQuant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0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880360"/>
            <a:ext cx="1463040" cy="54864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FFFFFF"/>
                </a:solidFill>
                <a:latin typeface="Times New Roman"/>
              </a:defRPr>
            </a:pPr>
            <a: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77639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E3E3E3"/>
                </a:solidFill>
                <a:latin typeface="Times New Roman"/>
              </a:defRPr>
            </a:pPr>
            <a:r>
              <a:t>Finalized technology choices per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1908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FFFFFF"/>
                </a:solidFill>
                <a:latin typeface="Times New Roman"/>
              </a:defRPr>
            </a:pPr>
            <a:r>
              <a:t>6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FFFFFF"/>
                </a:solidFill>
                <a:latin typeface="Times New Roman"/>
              </a:defRPr>
            </a:pPr>
            <a:r>
              <a:t>ArgosQuant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E204F"/>
                </a:solidFill>
                <a:latin typeface="Times New Roman"/>
              </a:defRPr>
            </a:pPr>
            <a:r>
              <a:t>Finalized Tech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05840" cy="411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725912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291840"/>
                <a:gridCol w="5330952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 i="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Layer</a:t>
                      </a:r>
                    </a:p>
                  </a:txBody>
                  <a:tcPr marL="109728" marT="45720" marB="45720">
                    <a:solidFill>
                      <a:srgbClr val="0E20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 i="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Choice</a:t>
                      </a:r>
                    </a:p>
                  </a:txBody>
                  <a:tcPr marL="109728" marT="45720" marB="45720">
                    <a:solidFill>
                      <a:srgbClr val="0E20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 i="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Notes</a:t>
                      </a:r>
                    </a:p>
                  </a:txBody>
                  <a:tcPr marL="109728" marT="45720" marB="45720">
                    <a:solidFill>
                      <a:srgbClr val="0E204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50" b="1" i="0">
                          <a:solidFill>
                            <a:srgbClr val="0E204F"/>
                          </a:solidFill>
                          <a:latin typeface="Times New Roman"/>
                        </a:defRPr>
                      </a:pPr>
                      <a:r>
                        <a:t>Language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 i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Java 21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 i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LTS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50" b="1" i="0">
                          <a:solidFill>
                            <a:srgbClr val="0E204F"/>
                          </a:solidFill>
                          <a:latin typeface="Times New Roman"/>
                        </a:defRPr>
                      </a:pPr>
                      <a:r>
                        <a:t>Build</a:t>
                      </a:r>
                    </a:p>
                  </a:txBody>
                  <a:tcPr marL="109728" marT="36576" marB="36576"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 i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Maven (multi-module)</a:t>
                      </a:r>
                    </a:p>
                  </a:txBody>
                  <a:tcPr marL="109728" marT="36576" marB="36576"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 i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core / web / desktop / e2e</a:t>
                      </a:r>
                    </a:p>
                  </a:txBody>
                  <a:tcPr marL="109728" marT="36576" marB="36576">
                    <a:solidFill>
                      <a:srgbClr val="E3E3E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50" b="1" i="0">
                          <a:solidFill>
                            <a:srgbClr val="0E204F"/>
                          </a:solidFill>
                          <a:latin typeface="Times New Roman"/>
                        </a:defRPr>
                      </a:pPr>
                      <a:r>
                        <a:t>Backend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 i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Spring Boot 3.x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 i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REST controllers, DI, scheduling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50" b="1" i="0">
                          <a:solidFill>
                            <a:srgbClr val="0E204F"/>
                          </a:solidFill>
                          <a:latin typeface="Times New Roman"/>
                        </a:defRPr>
                      </a:pPr>
                      <a:r>
                        <a:t>Security</a:t>
                      </a:r>
                    </a:p>
                  </a:txBody>
                  <a:tcPr marL="109728" marT="36576" marB="36576"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 i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Spring Security + JWT</a:t>
                      </a:r>
                    </a:p>
                  </a:txBody>
                  <a:tcPr marL="109728" marT="36576" marB="36576"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 i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Stateless auth for web/REST</a:t>
                      </a:r>
                    </a:p>
                  </a:txBody>
                  <a:tcPr marL="109728" marT="36576" marB="36576">
                    <a:solidFill>
                      <a:srgbClr val="E3E3E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50" b="1" i="0">
                          <a:solidFill>
                            <a:srgbClr val="0E204F"/>
                          </a:solidFill>
                          <a:latin typeface="Times New Roman"/>
                        </a:defRPr>
                      </a:pPr>
                      <a:r>
                        <a:t>Web Views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 i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JSP + Servlets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 i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Classic servlet container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50" b="1" i="0">
                          <a:solidFill>
                            <a:srgbClr val="0E204F"/>
                          </a:solidFill>
                          <a:latin typeface="Times New Roman"/>
                        </a:defRPr>
                      </a:pPr>
                      <a:r>
                        <a:t>Desktop UI</a:t>
                      </a:r>
                    </a:p>
                  </a:txBody>
                  <a:tcPr marL="109728" marT="36576" marB="36576"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 i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JavaFX 21</a:t>
                      </a:r>
                    </a:p>
                  </a:txBody>
                  <a:tcPr marL="109728" marT="36576" marB="36576"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 i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Consumes same REST API as web</a:t>
                      </a:r>
                    </a:p>
                  </a:txBody>
                  <a:tcPr marL="109728" marT="36576" marB="36576">
                    <a:solidFill>
                      <a:srgbClr val="E3E3E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50" b="1" i="0">
                          <a:solidFill>
                            <a:srgbClr val="0E204F"/>
                          </a:solidFill>
                          <a:latin typeface="Times New Roman"/>
                        </a:defRPr>
                      </a:pPr>
                      <a:r>
                        <a:t>Persistence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 i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PostgreSQL + raw JDBC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 i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No ORM — hand-written repositories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50" b="1" i="0">
                          <a:solidFill>
                            <a:srgbClr val="0E204F"/>
                          </a:solidFill>
                          <a:latin typeface="Times New Roman"/>
                        </a:defRPr>
                      </a:pPr>
                      <a:r>
                        <a:t>Caching</a:t>
                      </a:r>
                    </a:p>
                  </a:txBody>
                  <a:tcPr marL="109728" marT="36576" marB="36576"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 i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Redis</a:t>
                      </a:r>
                    </a:p>
                  </a:txBody>
                  <a:tcPr marL="109728" marT="36576" marB="36576"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 i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Market data caching, freshness TTLs</a:t>
                      </a:r>
                    </a:p>
                  </a:txBody>
                  <a:tcPr marL="109728" marT="36576" marB="36576">
                    <a:solidFill>
                      <a:srgbClr val="E3E3E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50" b="1" i="0">
                          <a:solidFill>
                            <a:srgbClr val="0E204F"/>
                          </a:solidFill>
                          <a:latin typeface="Times New Roman"/>
                        </a:defRPr>
                      </a:pPr>
                      <a:r>
                        <a:t>Market Data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 i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External API (TBD)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 i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Concurrent fetch via ExecutorService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50" b="1" i="0">
                          <a:solidFill>
                            <a:srgbClr val="0E204F"/>
                          </a:solidFill>
                          <a:latin typeface="Times New Roman"/>
                        </a:defRPr>
                      </a:pPr>
                      <a:r>
                        <a:t>AI Assistant</a:t>
                      </a:r>
                    </a:p>
                  </a:txBody>
                  <a:tcPr marL="109728" marT="36576" marB="36576"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 i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LLM API (TBD)</a:t>
                      </a:r>
                    </a:p>
                  </a:txBody>
                  <a:tcPr marL="109728" marT="36576" marB="36576"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 i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ContextBuilder-only; optional, non-blocking</a:t>
                      </a:r>
                    </a:p>
                  </a:txBody>
                  <a:tcPr marL="109728" marT="36576" marB="36576">
                    <a:solidFill>
                      <a:srgbClr val="E3E3E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50" b="1" i="0">
                          <a:solidFill>
                            <a:srgbClr val="0E204F"/>
                          </a:solidFill>
                          <a:latin typeface="Times New Roman"/>
                        </a:defRPr>
                      </a:pPr>
                      <a:r>
                        <a:t>Containers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 i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Docker + docker-compose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 i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App, Postgres, Redis for local dev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50" b="1" i="0">
                          <a:solidFill>
                            <a:srgbClr val="0E204F"/>
                          </a:solidFill>
                          <a:latin typeface="Times New Roman"/>
                        </a:defRPr>
                      </a:pPr>
                      <a:r>
                        <a:t>Testing</a:t>
                      </a:r>
                    </a:p>
                  </a:txBody>
                  <a:tcPr marL="109728" marT="36576" marB="36576"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 i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JUnit 5, Mockito, Testcontainers</a:t>
                      </a:r>
                    </a:p>
                  </a:txBody>
                  <a:tcPr marL="109728" marT="36576" marB="36576"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 i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Unit + real-Postgres integration tests</a:t>
                      </a:r>
                    </a:p>
                  </a:txBody>
                  <a:tcPr marL="109728" marT="36576" marB="36576">
                    <a:solidFill>
                      <a:srgbClr val="E3E3E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728655" y="641908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000000"/>
                </a:solidFill>
                <a:latin typeface="Times New Roman"/>
              </a:defRPr>
            </a:pPr>
            <a:r>
              <a:t>7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000000"/>
                </a:solidFill>
                <a:latin typeface="Times New Roman"/>
              </a:defRPr>
            </a:pPr>
            <a:r>
              <a:t>ArgosQuant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0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880360"/>
            <a:ext cx="1463040" cy="54864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FFFFFF"/>
                </a:solidFill>
                <a:latin typeface="Times New Roman"/>
              </a:defRPr>
            </a:pPr>
            <a:r>
              <a:t>Modular Folder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77639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E3E3E3"/>
                </a:solidFill>
                <a:latin typeface="Times New Roman"/>
              </a:defRPr>
            </a:pPr>
            <a:r>
              <a:t>Maven multi-module reactor enforcing shared business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1908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FFFFFF"/>
                </a:solidFill>
                <a:latin typeface="Times New Roman"/>
              </a:defRPr>
            </a:pPr>
            <a:r>
              <a:t>8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FFFFFF"/>
                </a:solidFill>
                <a:latin typeface="Times New Roman"/>
              </a:defRPr>
            </a:pPr>
            <a:r>
              <a:t>ArgosQuant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E204F"/>
                </a:solidFill>
                <a:latin typeface="Times New Roman"/>
              </a:defRPr>
            </a:pPr>
            <a:r>
              <a:t>Maven Multi-Module Reactor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05840" cy="411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80560" y="1463040"/>
            <a:ext cx="3200400" cy="914400"/>
          </a:xfrm>
          <a:prstGeom prst="rect">
            <a:avLst/>
          </a:prstGeom>
          <a:solidFill>
            <a:srgbClr val="0E204F"/>
          </a:solidFill>
          <a:ln>
            <a:solidFill>
              <a:srgbClr val="0E2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0" y="1463040"/>
            <a:ext cx="3200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Times New Roman"/>
              </a:defRPr>
            </a:pPr>
            <a:r>
              <a:t>argosquant-core</a:t>
            </a:r>
          </a:p>
          <a:p>
            <a:pPr algn="ctr">
              <a:defRPr sz="1400" b="1" i="0">
                <a:solidFill>
                  <a:srgbClr val="FFFFFF"/>
                </a:solidFill>
                <a:latin typeface="Times New Roman"/>
              </a:defRPr>
            </a:pPr>
            <a:r>
              <a:t>(business logic — no Servlet / JSP / JavaFX deps)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657600"/>
            <a:ext cx="3017520" cy="1005840"/>
          </a:xfrm>
          <a:prstGeom prst="rect">
            <a:avLst/>
          </a:prstGeom>
          <a:solidFill>
            <a:srgbClr val="E3E3E3"/>
          </a:solidFill>
          <a:ln w="19050">
            <a:solidFill>
              <a:srgbClr val="0E2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30175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0E204F"/>
                </a:solidFill>
                <a:latin typeface="Times New Roman"/>
              </a:defRPr>
            </a:pPr>
            <a:r>
              <a:t>argosquant-web</a:t>
            </a:r>
          </a:p>
          <a:p>
            <a:pPr algn="ctr">
              <a:defRPr sz="1300" b="1" i="0">
                <a:solidFill>
                  <a:srgbClr val="0E204F"/>
                </a:solidFill>
                <a:latin typeface="Times New Roman"/>
              </a:defRPr>
            </a:pPr>
            <a:r>
              <a:t>REST controllers,</a:t>
            </a:r>
          </a:p>
          <a:p>
            <a:pPr algn="ctr">
              <a:defRPr sz="1300" b="1" i="0">
                <a:solidFill>
                  <a:srgbClr val="0E204F"/>
                </a:solidFill>
                <a:latin typeface="Times New Roman"/>
              </a:defRPr>
            </a:pPr>
            <a:r>
              <a:t>Servlets, JSP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2331720" y="2377440"/>
            <a:ext cx="3749040" cy="128016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617720" y="3657600"/>
            <a:ext cx="3017520" cy="1005840"/>
          </a:xfrm>
          <a:prstGeom prst="rect">
            <a:avLst/>
          </a:prstGeom>
          <a:solidFill>
            <a:srgbClr val="E3E3E3"/>
          </a:solidFill>
          <a:ln w="19050">
            <a:solidFill>
              <a:srgbClr val="0E2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3657600"/>
            <a:ext cx="30175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0E204F"/>
                </a:solidFill>
                <a:latin typeface="Times New Roman"/>
              </a:defRPr>
            </a:pPr>
            <a:r>
              <a:t>argosquant-desktop</a:t>
            </a:r>
          </a:p>
          <a:p>
            <a:pPr algn="ctr">
              <a:defRPr sz="1300" b="1" i="0">
                <a:solidFill>
                  <a:srgbClr val="0E204F"/>
                </a:solidFill>
                <a:latin typeface="Times New Roman"/>
              </a:defRPr>
            </a:pPr>
            <a:r>
              <a:t>JavaFX client</a:t>
            </a:r>
          </a:p>
          <a:p>
            <a:pPr algn="ctr">
              <a:defRPr sz="1300" b="1" i="0">
                <a:solidFill>
                  <a:srgbClr val="0E204F"/>
                </a:solidFill>
                <a:latin typeface="Times New Roman"/>
              </a:defRPr>
            </a:pPr>
            <a:r>
              <a:t>(HTTP to web API)</a:t>
            </a:r>
          </a:p>
        </p:txBody>
      </p:sp>
      <p:cxnSp>
        <p:nvCxnSpPr>
          <p:cNvPr id="12" name="Connector 11"/>
          <p:cNvCxnSpPr/>
          <p:nvPr/>
        </p:nvCxnSpPr>
        <p:spPr>
          <a:xfrm flipH="1" flipV="1">
            <a:off x="6080760" y="2377440"/>
            <a:ext cx="45719" cy="128016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8778240" y="3657600"/>
            <a:ext cx="3017520" cy="1005840"/>
          </a:xfrm>
          <a:prstGeom prst="rect">
            <a:avLst/>
          </a:prstGeom>
          <a:solidFill>
            <a:srgbClr val="E3E3E3"/>
          </a:solidFill>
          <a:ln w="19050">
            <a:solidFill>
              <a:srgbClr val="0E2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3657600"/>
            <a:ext cx="30175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0E204F"/>
                </a:solidFill>
                <a:latin typeface="Times New Roman"/>
              </a:defRPr>
            </a:pPr>
            <a:r>
              <a:t>argosquant-e2e</a:t>
            </a:r>
          </a:p>
          <a:p>
            <a:pPr algn="ctr">
              <a:defRPr sz="1300" b="1" i="0">
                <a:solidFill>
                  <a:srgbClr val="0E204F"/>
                </a:solidFill>
                <a:latin typeface="Times New Roman"/>
              </a:defRPr>
            </a:pPr>
            <a:r>
              <a:t>Cross-module</a:t>
            </a:r>
          </a:p>
          <a:p>
            <a:pPr algn="ctr">
              <a:defRPr sz="1300" b="1" i="0">
                <a:solidFill>
                  <a:srgbClr val="0E204F"/>
                </a:solidFill>
                <a:latin typeface="Times New Roman"/>
              </a:defRPr>
            </a:pPr>
            <a:r>
              <a:t>integration tests</a:t>
            </a:r>
          </a:p>
        </p:txBody>
      </p:sp>
      <p:cxnSp>
        <p:nvCxnSpPr>
          <p:cNvPr id="15" name="Connector 14"/>
          <p:cNvCxnSpPr/>
          <p:nvPr/>
        </p:nvCxnSpPr>
        <p:spPr>
          <a:xfrm flipH="1" flipV="1">
            <a:off x="6080760" y="2377440"/>
            <a:ext cx="4206240" cy="128016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1520" y="4892040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1">
                <a:solidFill>
                  <a:srgbClr val="000000"/>
                </a:solidFill>
                <a:latin typeface="Times New Roman"/>
              </a:defRPr>
            </a:pPr>
            <a:r>
              <a:t>depends on  →   (core never depends back on web / desktop / e2e)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41908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000000"/>
                </a:solidFill>
                <a:latin typeface="Times New Roman"/>
              </a:defRPr>
            </a:pPr>
            <a:r>
              <a:t>9 / 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190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000000"/>
                </a:solidFill>
                <a:latin typeface="Times New Roman"/>
              </a:defRPr>
            </a:pPr>
            <a:r>
              <a:t>ArgosQuant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E204F"/>
                </a:solidFill>
                <a:latin typeface="Times New Roman"/>
              </a:defRPr>
            </a:pPr>
            <a:r>
              <a:t>argosquant-core — Package Breakdown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05840" cy="411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508760"/>
            <a:ext cx="118872" cy="118872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53312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 i="0">
                <a:solidFill>
                  <a:srgbClr val="000000"/>
                </a:solidFill>
                <a:latin typeface="Times New Roman"/>
              </a:defRPr>
            </a:pPr>
            <a:r>
              <a:t>model/ (+ model/asset/)  —  User, Portfolio, Stock, Holding, Transaction, abstract FinancialAsset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075688"/>
            <a:ext cx="118872" cy="118872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2024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 i="0">
                <a:solidFill>
                  <a:srgbClr val="000000"/>
                </a:solidFill>
                <a:latin typeface="Times New Roman"/>
              </a:defRPr>
            </a:pPr>
            <a:r>
              <a:t>auth/  —  AuthService, JwtService, security, dto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642616"/>
            <a:ext cx="118872" cy="118872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87168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 i="0">
                <a:solidFill>
                  <a:srgbClr val="000000"/>
                </a:solidFill>
                <a:latin typeface="Times New Roman"/>
              </a:defRPr>
            </a:pPr>
            <a:r>
              <a:t>portfolio/  —  PortfolioService, TransactionService, JDBC repositories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209544"/>
            <a:ext cx="118872" cy="118872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54096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 i="0">
                <a:solidFill>
                  <a:srgbClr val="000000"/>
                </a:solidFill>
                <a:latin typeface="Times New Roman"/>
              </a:defRPr>
            </a:pPr>
            <a:r>
              <a:t>market/  —  client, Redis cache, MarketDataService, scheduled refresh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776472"/>
            <a:ext cx="118872" cy="118872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21024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 i="0">
                <a:solidFill>
                  <a:srgbClr val="000000"/>
                </a:solidFill>
                <a:latin typeface="Times New Roman"/>
              </a:defRPr>
            </a:pPr>
            <a:r>
              <a:t>analytics/  —  returns, volatility, sharpe, beta, var, drawdown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343400"/>
            <a:ext cx="118872" cy="118872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187952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 i="0">
                <a:solidFill>
                  <a:srgbClr val="000000"/>
                </a:solidFill>
                <a:latin typeface="Times New Roman"/>
              </a:defRPr>
            </a:pPr>
            <a:r>
              <a:t>risk/  —  RiskEngine, RiskScoreService, CorrelationService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910328"/>
            <a:ext cx="118872" cy="118872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75488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 i="0">
                <a:solidFill>
                  <a:srgbClr val="000000"/>
                </a:solidFill>
                <a:latin typeface="Times New Roman"/>
              </a:defRPr>
            </a:pPr>
            <a:r>
              <a:t>simulation/  —  ScenarioEngine, StressTestService (read-only, non-persistent)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5477256"/>
            <a:ext cx="118872" cy="118872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321808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 i="0">
                <a:solidFill>
                  <a:srgbClr val="000000"/>
                </a:solidFill>
                <a:latin typeface="Times New Roman"/>
              </a:defRPr>
            </a:pPr>
            <a:r>
              <a:t>reports/, database/, ai/, exceptions/, utils/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28655" y="641908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000000"/>
                </a:solidFill>
                <a:latin typeface="Times New Roman"/>
              </a:defRPr>
            </a:pPr>
            <a:r>
              <a:t>10 / 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190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000000"/>
                </a:solidFill>
                <a:latin typeface="Times New Roman"/>
              </a:defRPr>
            </a:pPr>
            <a:r>
              <a:t>ArgosQuant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E204F"/>
                </a:solidFill>
                <a:latin typeface="Times New Roman"/>
              </a:defRPr>
            </a:pPr>
            <a:r>
              <a:t>Architectural Invariants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05840" cy="411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508760"/>
            <a:ext cx="118872" cy="118872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53312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0">
                <a:solidFill>
                  <a:srgbClr val="000000"/>
                </a:solidFill>
                <a:latin typeface="Times New Roman"/>
              </a:defRPr>
            </a:pPr>
            <a:r>
              <a:t>No cross-client dependency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746504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1">
                <a:solidFill>
                  <a:srgbClr val="000000"/>
                </a:solidFill>
                <a:latin typeface="Times New Roman"/>
              </a:defRPr>
            </a:pPr>
            <a:r>
              <a:t>argosquant-core has zero Spring MVC / Servlet / JSP / JavaFX dependencies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313432"/>
            <a:ext cx="118872" cy="118872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57984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0">
                <a:solidFill>
                  <a:srgbClr val="000000"/>
                </a:solidFill>
                <a:latin typeface="Times New Roman"/>
              </a:defRPr>
            </a:pPr>
            <a:r>
              <a:t>Simulation is read-only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551176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1">
                <a:solidFill>
                  <a:srgbClr val="000000"/>
                </a:solidFill>
                <a:latin typeface="Times New Roman"/>
              </a:defRPr>
            </a:pPr>
            <a:r>
              <a:t>simulation/ never writes to database/ repositories — results are computed, not persisted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118104"/>
            <a:ext cx="118872" cy="118872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962656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0">
                <a:solidFill>
                  <a:srgbClr val="000000"/>
                </a:solidFill>
                <a:latin typeface="Times New Roman"/>
              </a:defRPr>
            </a:pPr>
            <a:r>
              <a:t>AI isolation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355848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1">
                <a:solidFill>
                  <a:srgbClr val="000000"/>
                </a:solidFill>
                <a:latin typeface="Times New Roman"/>
              </a:defRPr>
            </a:pPr>
            <a:r>
              <a:t>ai/ only reads portfolio/analytics/risk outputs via ContextBuilder — no JDBC or market-data access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922776"/>
            <a:ext cx="118872" cy="118872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67328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0">
                <a:solidFill>
                  <a:srgbClr val="000000"/>
                </a:solidFill>
                <a:latin typeface="Times New Roman"/>
              </a:defRPr>
            </a:pPr>
            <a:r>
              <a:t>Single namespace, physical boundary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16052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1">
                <a:solidFill>
                  <a:srgbClr val="000000"/>
                </a:solidFill>
                <a:latin typeface="Times New Roman"/>
              </a:defRPr>
            </a:pPr>
            <a:r>
              <a:t>com.argosquant everywhere, but enforced by separate Maven artifacts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41908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000000"/>
                </a:solidFill>
                <a:latin typeface="Times New Roman"/>
              </a:defRPr>
            </a:pPr>
            <a:r>
              <a:t>11 / 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190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000000"/>
                </a:solidFill>
                <a:latin typeface="Times New Roman"/>
              </a:defRPr>
            </a:pPr>
            <a:r>
              <a:t>ArgosQuant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0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880360"/>
            <a:ext cx="1463040" cy="54864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FFFFFF"/>
                </a:solidFill>
                <a:latin typeface="Times New Roman"/>
              </a:defRPr>
            </a:pPr>
            <a:r>
              <a:t>Implementation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77639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E3E3E3"/>
                </a:solidFill>
                <a:latin typeface="Times New Roman"/>
              </a:defRPr>
            </a:pPr>
            <a:r>
              <a:t>8 phases — each produces something runnable or demoable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1908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FFFFFF"/>
                </a:solidFill>
                <a:latin typeface="Times New Roman"/>
              </a:defRPr>
            </a:pPr>
            <a:r>
              <a:t>12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FFFFFF"/>
                </a:solidFill>
                <a:latin typeface="Times New Roman"/>
              </a:defRPr>
            </a:pPr>
            <a:r>
              <a:t>ArgosQuant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E204F"/>
                </a:solidFill>
                <a:latin typeface="Times New Roman"/>
              </a:defRPr>
            </a:pPr>
            <a:r>
              <a:t>Roadmap at a Glance — Phase 0 → 7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05840" cy="411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4895" y="1920240"/>
            <a:ext cx="1188720" cy="1188720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4895" y="1920240"/>
            <a:ext cx="1188720" cy="1188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 i="0">
                <a:solidFill>
                  <a:srgbClr val="FFFFFF"/>
                </a:solidFill>
                <a:latin typeface="Times New Roman"/>
              </a:defRPr>
            </a:pPr>
            <a: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447" y="3218688"/>
            <a:ext cx="14996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 i="0">
                <a:solidFill>
                  <a:srgbClr val="000000"/>
                </a:solidFill>
                <a:latin typeface="Times New Roman"/>
              </a:defRPr>
            </a:pPr>
            <a:r>
              <a:t>Scaffolding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53615" y="2514600"/>
            <a:ext cx="164592" cy="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118207" y="1920240"/>
            <a:ext cx="1188720" cy="1188720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18207" y="1920240"/>
            <a:ext cx="1188720" cy="1188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 i="0">
                <a:solidFill>
                  <a:srgbClr val="FFFFFF"/>
                </a:solidFill>
                <a:latin typeface="Times New Roman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2759" y="3218688"/>
            <a:ext cx="14996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 i="0">
                <a:solidFill>
                  <a:srgbClr val="000000"/>
                </a:solidFill>
                <a:latin typeface="Times New Roman"/>
              </a:defRPr>
            </a:pPr>
            <a:r>
              <a:t>Auth &amp; Portfolio Core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06927" y="2514600"/>
            <a:ext cx="164592" cy="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471519" y="1920240"/>
            <a:ext cx="1188720" cy="1188720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1519" y="1920240"/>
            <a:ext cx="1188720" cy="1188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 i="0">
                <a:solidFill>
                  <a:srgbClr val="FFFFFF"/>
                </a:solidFill>
                <a:latin typeface="Times New Roman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6071" y="3218688"/>
            <a:ext cx="14996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 i="0">
                <a:solidFill>
                  <a:srgbClr val="000000"/>
                </a:solidFill>
                <a:latin typeface="Times New Roman"/>
              </a:defRPr>
            </a:pPr>
            <a:r>
              <a:t>Market Data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60239" y="2514600"/>
            <a:ext cx="164592" cy="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824831" y="1920240"/>
            <a:ext cx="1188720" cy="1188720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24831" y="1920240"/>
            <a:ext cx="1188720" cy="1188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 i="0">
                <a:solidFill>
                  <a:srgbClr val="FFFFFF"/>
                </a:solidFill>
                <a:latin typeface="Times New Roman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9383" y="3218688"/>
            <a:ext cx="14996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 i="0">
                <a:solidFill>
                  <a:srgbClr val="000000"/>
                </a:solidFill>
                <a:latin typeface="Times New Roman"/>
              </a:defRPr>
            </a:pPr>
            <a:r>
              <a:t>Analytics &amp; Risk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13551" y="2514600"/>
            <a:ext cx="164592" cy="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178143" y="1920240"/>
            <a:ext cx="1188720" cy="1188720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8143" y="1920240"/>
            <a:ext cx="1188720" cy="1188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 i="0">
                <a:solidFill>
                  <a:srgbClr val="FFFFFF"/>
                </a:solidFill>
                <a:latin typeface="Times New Roman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22695" y="3218688"/>
            <a:ext cx="14996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 i="0">
                <a:solidFill>
                  <a:srgbClr val="000000"/>
                </a:solidFill>
                <a:latin typeface="Times New Roman"/>
              </a:defRPr>
            </a:pPr>
            <a:r>
              <a:t>Scenario &amp; Stress Testing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366863" y="2514600"/>
            <a:ext cx="164592" cy="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531455" y="1920240"/>
            <a:ext cx="1188720" cy="1188720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31455" y="1920240"/>
            <a:ext cx="1188720" cy="1188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 i="0">
                <a:solidFill>
                  <a:srgbClr val="FFFFFF"/>
                </a:solidFill>
                <a:latin typeface="Times New Roman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76007" y="3218688"/>
            <a:ext cx="14996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 i="0">
                <a:solidFill>
                  <a:srgbClr val="000000"/>
                </a:solidFill>
                <a:latin typeface="Times New Roman"/>
              </a:defRPr>
            </a:pPr>
            <a:r>
              <a:t>Dashboard &amp; Reports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720175" y="2514600"/>
            <a:ext cx="164592" cy="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8884767" y="1920240"/>
            <a:ext cx="1188720" cy="1188720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4767" y="1920240"/>
            <a:ext cx="1188720" cy="1188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 i="0">
                <a:solidFill>
                  <a:srgbClr val="FFFFFF"/>
                </a:solidFill>
                <a:latin typeface="Times New Roman"/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29319" y="3218688"/>
            <a:ext cx="14996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 i="0">
                <a:solidFill>
                  <a:srgbClr val="000000"/>
                </a:solidFill>
                <a:latin typeface="Times New Roman"/>
              </a:defRPr>
            </a:pPr>
            <a:r>
              <a:t>AI Portfolio Assistant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073487" y="2514600"/>
            <a:ext cx="164592" cy="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10238079" y="1920240"/>
            <a:ext cx="1188720" cy="1188720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38079" y="1920240"/>
            <a:ext cx="1188720" cy="1188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 i="0">
                <a:solidFill>
                  <a:srgbClr val="FFFFFF"/>
                </a:solidFill>
                <a:latin typeface="Times New Roman"/>
              </a:defRPr>
            </a:pPr>
            <a: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82631" y="3218688"/>
            <a:ext cx="14996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 i="0">
                <a:solidFill>
                  <a:srgbClr val="000000"/>
                </a:solidFill>
                <a:latin typeface="Times New Roman"/>
              </a:defRPr>
            </a:pPr>
            <a:r>
              <a:t>Hardening &amp; Deployment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34924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000000"/>
                </a:solidFill>
                <a:latin typeface="Times New Roman"/>
              </a:defRPr>
            </a:pPr>
            <a:r>
              <a:t>Each phase ships something runnable; later phases never require revisiting earlier layering decisions.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000000"/>
                </a:solidFill>
                <a:latin typeface="Times New Roman"/>
              </a:defRPr>
            </a:pPr>
            <a:r>
              <a:t>13 / 23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190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000000"/>
                </a:solidFill>
                <a:latin typeface="Times New Roman"/>
              </a:defRPr>
            </a:pPr>
            <a:r>
              <a:t>ArgosQuant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E204F"/>
                </a:solidFill>
                <a:latin typeface="Times New Roman"/>
              </a:defRPr>
            </a:pPr>
            <a:r>
              <a:t>Phase 0 — Scaffolding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05840" cy="411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1">
                <a:solidFill>
                  <a:srgbClr val="000000"/>
                </a:solidFill>
                <a:latin typeface="Times New Roman"/>
              </a:defRPr>
            </a:pPr>
            <a:r>
              <a:t>Goal: a buildable, runnable skeleton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74519"/>
            <a:ext cx="118872" cy="118872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19072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 i="0">
                <a:solidFill>
                  <a:srgbClr val="000000"/>
                </a:solidFill>
                <a:latin typeface="Times New Roman"/>
              </a:defRPr>
            </a:pPr>
            <a:r>
              <a:t>Create multi-module Maven reactor: argosquant-core, argosquant-web, argosquant-desktop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441448"/>
            <a:ext cx="118872" cy="118872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28600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 i="0">
                <a:solidFill>
                  <a:srgbClr val="000000"/>
                </a:solidFill>
                <a:latin typeface="Times New Roman"/>
              </a:defRPr>
            </a:pPr>
            <a:r>
              <a:t>Parent POM with shared dependency versions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008376"/>
            <a:ext cx="118872" cy="118872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852928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 i="0">
                <a:solidFill>
                  <a:srgbClr val="000000"/>
                </a:solidFill>
                <a:latin typeface="Times New Roman"/>
              </a:defRPr>
            </a:pPr>
            <a:r>
              <a:t>docker-compose.yml for Postgres + Redis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575304"/>
            <a:ext cx="118872" cy="118872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419856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 i="0">
                <a:solidFill>
                  <a:srgbClr val="000000"/>
                </a:solidFill>
                <a:latin typeface="Times New Roman"/>
              </a:defRPr>
            </a:pPr>
            <a:r>
              <a:t>Base schema migration: users, portfolios, stocks, holdings, transactions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142231"/>
            <a:ext cx="118872" cy="118872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986783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 i="0">
                <a:solidFill>
                  <a:srgbClr val="000000"/>
                </a:solidFill>
                <a:latin typeface="Times New Roman"/>
              </a:defRPr>
            </a:pPr>
            <a:r>
              <a:t>database/ JDBC connection management wired to Postgres via Docker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8655" y="641908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000000"/>
                </a:solidFill>
                <a:latin typeface="Times New Roman"/>
              </a:defRPr>
            </a:pPr>
            <a:r>
              <a:t>14 / 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190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000000"/>
                </a:solidFill>
                <a:latin typeface="Times New Roman"/>
              </a:defRPr>
            </a:pPr>
            <a:r>
              <a:t>ArgosQuant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E204F"/>
                </a:solidFill>
                <a:latin typeface="Times New Roman"/>
              </a:defRPr>
            </a:pPr>
            <a:r>
              <a:t>Phase 1 — Auth &amp; Portfolio 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05840" cy="411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1">
                <a:solidFill>
                  <a:srgbClr val="000000"/>
                </a:solidFill>
                <a:latin typeface="Times New Roman"/>
              </a:defRPr>
            </a:pPr>
            <a:r>
              <a:t>Goal: a user can register, log in, and hold a portfolio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74519"/>
            <a:ext cx="118872" cy="118872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19072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 i="0">
                <a:solidFill>
                  <a:srgbClr val="000000"/>
                </a:solidFill>
                <a:latin typeface="Times New Roman"/>
              </a:defRPr>
            </a:pPr>
            <a:r>
              <a:t>model/ domain classes incl. abstract FinancialAsset + 2+ concrete subclasses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441448"/>
            <a:ext cx="118872" cy="118872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28600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 i="0">
                <a:solidFill>
                  <a:srgbClr val="000000"/>
                </a:solidFill>
                <a:latin typeface="Times New Roman"/>
              </a:defRPr>
            </a:pPr>
            <a:r>
              <a:t>auth/: registration, login, JWT issuance/validation, Spring Security config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008376"/>
            <a:ext cx="118872" cy="118872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852928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 i="0">
                <a:solidFill>
                  <a:srgbClr val="000000"/>
                </a:solidFill>
                <a:latin typeface="Times New Roman"/>
              </a:defRPr>
            </a:pPr>
            <a:r>
              <a:t>portfolio/: CRUD, buy/sell with validation (InsufficientHoldingsException, etc.)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575304"/>
            <a:ext cx="118872" cy="118872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419856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 i="0">
                <a:solidFill>
                  <a:srgbClr val="000000"/>
                </a:solidFill>
                <a:latin typeface="Times New Roman"/>
              </a:defRPr>
            </a:pPr>
            <a:r>
              <a:t>REST controllers in argosquant-web exposing portfolio/auth services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142231"/>
            <a:ext cx="118872" cy="118872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986783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 i="0">
                <a:solidFill>
                  <a:srgbClr val="000000"/>
                </a:solidFill>
                <a:latin typeface="Times New Roman"/>
              </a:defRPr>
            </a:pPr>
            <a:r>
              <a:t>Unit tests for services; Testcontainers integration tests for repositories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8655" y="641908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000000"/>
                </a:solidFill>
                <a:latin typeface="Times New Roman"/>
              </a:defRPr>
            </a:pPr>
            <a:r>
              <a:t>15 / 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190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000000"/>
                </a:solidFill>
                <a:latin typeface="Times New Roman"/>
              </a:defRPr>
            </a:pPr>
            <a:r>
              <a:t>ArgosQuant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E204F"/>
                </a:solidFill>
                <a:latin typeface="Times New Roman"/>
              </a:defRPr>
            </a:pPr>
            <a:r>
              <a:t>Phase 2 — Market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05840" cy="411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1">
                <a:solidFill>
                  <a:srgbClr val="000000"/>
                </a:solidFill>
                <a:latin typeface="Times New Roman"/>
              </a:defRPr>
            </a:pPr>
            <a:r>
              <a:t>Goal: live, cached prices feeding holdings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74519"/>
            <a:ext cx="118872" cy="118872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19072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 i="0">
                <a:solidFill>
                  <a:srgbClr val="000000"/>
                </a:solidFill>
                <a:latin typeface="Times New Roman"/>
              </a:defRPr>
            </a:pPr>
            <a:r>
              <a:t>market/client: external market-data API integration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441448"/>
            <a:ext cx="118872" cy="118872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28600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 i="0">
                <a:solidFill>
                  <a:srgbClr val="000000"/>
                </a:solidFill>
                <a:latin typeface="Times New Roman"/>
              </a:defRPr>
            </a:pPr>
            <a:r>
              <a:t>market/cache: Redis caching with freshness/TTL handling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008376"/>
            <a:ext cx="118872" cy="118872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852928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 i="0">
                <a:solidFill>
                  <a:srgbClr val="000000"/>
                </a:solidFill>
                <a:latin typeface="Times New Roman"/>
              </a:defRPr>
            </a:pPr>
            <a:r>
              <a:t>Concurrent per-symbol price fetch via ExecutorService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575304"/>
            <a:ext cx="118872" cy="118872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419856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 i="0">
                <a:solidFill>
                  <a:srgbClr val="000000"/>
                </a:solidFill>
                <a:latin typeface="Times New Roman"/>
              </a:defRPr>
            </a:pPr>
            <a:r>
              <a:t>Scheduled refresh job running off the request thread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142231"/>
            <a:ext cx="118872" cy="118872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986783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 i="0">
                <a:solidFill>
                  <a:srgbClr val="000000"/>
                </a:solidFill>
                <a:latin typeface="Times New Roman"/>
              </a:defRPr>
            </a:pPr>
            <a:r>
              <a:t>Watchlist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8655" y="641908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000000"/>
                </a:solidFill>
                <a:latin typeface="Times New Roman"/>
              </a:defRPr>
            </a:pPr>
            <a:r>
              <a:t>16 / 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190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000000"/>
                </a:solidFill>
                <a:latin typeface="Times New Roman"/>
              </a:defRPr>
            </a:pPr>
            <a:r>
              <a:t>ArgosQuant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E204F"/>
                </a:solidFill>
                <a:latin typeface="Times New Roman"/>
              </a:defRPr>
            </a:pPr>
            <a:r>
              <a:t>Phase 3 — Analytics &amp; Risk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05840" cy="411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1">
                <a:solidFill>
                  <a:srgbClr val="000000"/>
                </a:solidFill>
                <a:latin typeface="Times New Roman"/>
              </a:defRPr>
            </a:pPr>
            <a:r>
              <a:t>Goal: real quantitative metrics, not placeholders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74519"/>
            <a:ext cx="118872" cy="118872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19072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 i="0">
                <a:solidFill>
                  <a:srgbClr val="000000"/>
                </a:solidFill>
                <a:latin typeface="Times New Roman"/>
              </a:defRPr>
            </a:pPr>
            <a:r>
              <a:t>analytics/: returns, volatility, Sharpe, beta, VaR, drawdown — one concern per subpackage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441448"/>
            <a:ext cx="118872" cy="118872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28600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 i="0">
                <a:solidFill>
                  <a:srgbClr val="000000"/>
                </a:solidFill>
                <a:latin typeface="Times New Roman"/>
              </a:defRPr>
            </a:pPr>
            <a:r>
              <a:t>risk/RiskEngine: composes analytics outputs into a portfolio risk score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008376"/>
            <a:ext cx="118872" cy="118872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852928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 i="0">
                <a:solidFill>
                  <a:srgbClr val="000000"/>
                </a:solidFill>
                <a:latin typeface="Times New Roman"/>
              </a:defRPr>
            </a:pPr>
            <a:r>
              <a:t>risk/CorrelationService: inter-holding correlation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575304"/>
            <a:ext cx="118872" cy="118872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419856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 i="0">
                <a:solidFill>
                  <a:srgbClr val="000000"/>
                </a:solidFill>
                <a:latin typeface="Times New Roman"/>
              </a:defRPr>
            </a:pPr>
            <a:r>
              <a:t>Benchmark comparison, excess return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55" y="641908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000000"/>
                </a:solidFill>
                <a:latin typeface="Times New Roman"/>
              </a:defRPr>
            </a:pPr>
            <a:r>
              <a:t>17 / 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190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000000"/>
                </a:solidFill>
                <a:latin typeface="Times New Roman"/>
              </a:defRPr>
            </a:pPr>
            <a:r>
              <a:t>ArgosQuant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E204F"/>
                </a:solidFill>
                <a:latin typeface="Times New Roman"/>
              </a:defRPr>
            </a:pPr>
            <a:r>
              <a:t>Phase 4 — Scenario &amp; Stress Testing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05840" cy="411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1">
                <a:solidFill>
                  <a:srgbClr val="000000"/>
                </a:solidFill>
                <a:latin typeface="Times New Roman"/>
              </a:defRPr>
            </a:pPr>
            <a:r>
              <a:t>Goal: “what if TCS drops 15%?” without touching real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74519"/>
            <a:ext cx="118872" cy="118872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19072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 i="0">
                <a:solidFill>
                  <a:srgbClr val="000000"/>
                </a:solidFill>
                <a:latin typeface="Times New Roman"/>
              </a:defRPr>
            </a:pPr>
            <a:r>
              <a:t>simulation/ScenarioEngine + StressTestService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441448"/>
            <a:ext cx="118872" cy="118872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28600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 i="0">
                <a:solidFill>
                  <a:srgbClr val="000000"/>
                </a:solidFill>
                <a:latin typeface="Times New Roman"/>
              </a:defRPr>
            </a:pPr>
            <a:r>
              <a:t>Deterministic what-if calculations: price shocks, sector/market-wide decline, allocation changes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008376"/>
            <a:ext cx="118872" cy="118872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852928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 i="0">
                <a:solidFill>
                  <a:srgbClr val="000000"/>
                </a:solidFill>
                <a:latin typeface="Times New Roman"/>
              </a:defRPr>
            </a:pPr>
            <a:r>
              <a:t>Reuses analytics/ and risk/ outputs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575304"/>
            <a:ext cx="118872" cy="118872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419856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 i="0">
                <a:solidFill>
                  <a:srgbClr val="000000"/>
                </a:solidFill>
                <a:latin typeface="Times New Roman"/>
              </a:defRPr>
            </a:pPr>
            <a:r>
              <a:t>Strictly read-only — never mutates real holdings/transactions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55" y="641908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000000"/>
                </a:solidFill>
                <a:latin typeface="Times New Roman"/>
              </a:defRPr>
            </a:pPr>
            <a:r>
              <a:t>18 / 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190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000000"/>
                </a:solidFill>
                <a:latin typeface="Times New Roman"/>
              </a:defRPr>
            </a:pPr>
            <a:r>
              <a:t>ArgosQuant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E204F"/>
                </a:solidFill>
                <a:latin typeface="Times New Roman"/>
              </a:defRPr>
            </a:pPr>
            <a:r>
              <a:t>Phase 5 — Dashboard &amp; Reports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05840" cy="411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1">
                <a:solidFill>
                  <a:srgbClr val="000000"/>
                </a:solidFill>
                <a:latin typeface="Times New Roman"/>
              </a:defRPr>
            </a:pPr>
            <a:r>
              <a:t>Goal: both front ends render the same verified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74519"/>
            <a:ext cx="118872" cy="118872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19072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 i="0">
                <a:solidFill>
                  <a:srgbClr val="000000"/>
                </a:solidFill>
                <a:latin typeface="Times New Roman"/>
              </a:defRPr>
            </a:pPr>
            <a:r>
              <a:t>Dashboard aggregation endpoint(s) feeding both clients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441448"/>
            <a:ext cx="118872" cy="118872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28600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 i="0">
                <a:solidFill>
                  <a:srgbClr val="000000"/>
                </a:solidFill>
                <a:latin typeface="Times New Roman"/>
              </a:defRPr>
            </a:pPr>
            <a:r>
              <a:t>JSP views (argosquant-web/webapp): dashboard, portfolio, watchlist, reports pages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008376"/>
            <a:ext cx="118872" cy="118872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852928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 i="0">
                <a:solidFill>
                  <a:srgbClr val="000000"/>
                </a:solidFill>
                <a:latin typeface="Times New Roman"/>
              </a:defRPr>
            </a:pPr>
            <a:r>
              <a:t>JavaFX views (argosquant-desktop) mirroring the same data via the REST client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575304"/>
            <a:ext cx="118872" cy="118872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419856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 i="0">
                <a:solidFill>
                  <a:srgbClr val="000000"/>
                </a:solidFill>
                <a:latin typeface="Times New Roman"/>
              </a:defRPr>
            </a:pPr>
            <a:r>
              <a:t>reports/: CSV import/export, report generation, save-to-disk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55" y="641908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000000"/>
                </a:solidFill>
                <a:latin typeface="Times New Roman"/>
              </a:defRPr>
            </a:pPr>
            <a:r>
              <a:t>19 / 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190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000000"/>
                </a:solidFill>
                <a:latin typeface="Times New Roman"/>
              </a:defRPr>
            </a:pPr>
            <a:r>
              <a:t>ArgosQuant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E204F"/>
                </a:solidFill>
                <a:latin typeface="Times New Roman"/>
              </a:defRPr>
            </a:pPr>
            <a:r>
              <a:t>Phase 6 — AI Portfolio Assistant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05840" cy="411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1">
                <a:solidFill>
                  <a:srgbClr val="000000"/>
                </a:solidFill>
                <a:latin typeface="Times New Roman"/>
              </a:defRPr>
            </a:pPr>
            <a:r>
              <a:t>Goal: the assistant explains, never computes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74519"/>
            <a:ext cx="118872" cy="118872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19072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 i="0">
                <a:solidFill>
                  <a:srgbClr val="000000"/>
                </a:solidFill>
                <a:latin typeface="Times New Roman"/>
              </a:defRPr>
            </a:pPr>
            <a:r>
              <a:t>ai/ContextBuilder: assembles verified structured metrics from portfolio/analytics/risk services only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441448"/>
            <a:ext cx="118872" cy="118872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28600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 i="0">
                <a:solidFill>
                  <a:srgbClr val="000000"/>
                </a:solidFill>
                <a:latin typeface="Times New Roman"/>
              </a:defRPr>
            </a:pPr>
            <a:r>
              <a:t>ai/LLMClient + ChatService/ChatController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008376"/>
            <a:ext cx="118872" cy="118872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852928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 i="0">
                <a:solidFill>
                  <a:srgbClr val="000000"/>
                </a:solidFill>
                <a:latin typeface="Times New Roman"/>
              </a:defRPr>
            </a:pPr>
            <a:r>
              <a:t>One-directional flow: question → verified metrics → LLM → NL explanation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575304"/>
            <a:ext cx="118872" cy="118872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419856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 i="0">
                <a:solidFill>
                  <a:srgbClr val="000000"/>
                </a:solidFill>
                <a:latin typeface="Times New Roman"/>
              </a:defRPr>
            </a:pPr>
            <a:r>
              <a:t>Graceful degradation: core app features unaffected if LLM API is down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55" y="641908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000000"/>
                </a:solidFill>
                <a:latin typeface="Times New Roman"/>
              </a:defRPr>
            </a:pPr>
            <a:r>
              <a:t>20 / 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190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000000"/>
                </a:solidFill>
                <a:latin typeface="Times New Roman"/>
              </a:defRPr>
            </a:pPr>
            <a:r>
              <a:t>ArgosQuant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E204F"/>
                </a:solidFill>
                <a:latin typeface="Times New Roman"/>
              </a:defRPr>
            </a:pPr>
            <a:r>
              <a:t>Phase 7 — Hardening &amp;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05840" cy="411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1">
                <a:solidFill>
                  <a:srgbClr val="000000"/>
                </a:solidFill>
                <a:latin typeface="Times New Roman"/>
              </a:defRPr>
            </a:pPr>
            <a:r>
              <a:t>Goal: production-ready, deployable, race-condition-free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74519"/>
            <a:ext cx="118872" cy="118872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19072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 i="0">
                <a:solidFill>
                  <a:srgbClr val="000000"/>
                </a:solidFill>
                <a:latin typeface="Times New Roman"/>
              </a:defRPr>
            </a:pPr>
            <a:r>
              <a:t>Dockerize argosquant-web; finalize docker-compose for app + Postgres + Redis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441448"/>
            <a:ext cx="118872" cy="118872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28600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 i="0">
                <a:solidFill>
                  <a:srgbClr val="000000"/>
                </a:solidFill>
                <a:latin typeface="Times New Roman"/>
              </a:defRPr>
            </a:pPr>
            <a:r>
              <a:t>jpackage/installer for argosquant-desktop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008376"/>
            <a:ext cx="118872" cy="118872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852928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 i="0">
                <a:solidFill>
                  <a:srgbClr val="000000"/>
                </a:solidFill>
                <a:latin typeface="Times New Roman"/>
              </a:defRPr>
            </a:pPr>
            <a:r>
              <a:t>Cloud deployment of backend, managed Postgres provisioning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575304"/>
            <a:ext cx="118872" cy="118872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419856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 i="0">
                <a:solidFill>
                  <a:srgbClr val="000000"/>
                </a:solidFill>
                <a:latin typeface="Times New Roman"/>
              </a:defRPr>
            </a:pPr>
            <a:r>
              <a:t>Load-test concurrent market-data refresh path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142231"/>
            <a:ext cx="118872" cy="118872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986783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 i="0">
                <a:solidFill>
                  <a:srgbClr val="000000"/>
                </a:solidFill>
                <a:latin typeface="Times New Roman"/>
              </a:defRPr>
            </a:pPr>
            <a:r>
              <a:t>Review exception-handling coverage and multithreading correctness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8655" y="641908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000000"/>
                </a:solidFill>
                <a:latin typeface="Times New Roman"/>
              </a:defRPr>
            </a:pPr>
            <a:r>
              <a:t>21 / 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190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000000"/>
                </a:solidFill>
                <a:latin typeface="Times New Roman"/>
              </a:defRPr>
            </a:pPr>
            <a:r>
              <a:t>ArgosQuant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E204F"/>
                </a:solidFill>
                <a:latin typeface="Times New Roman"/>
              </a:defRPr>
            </a:pPr>
            <a:r>
              <a:t>Non-Functional Requirements &amp; Open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05840" cy="411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725912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079992"/>
              </a:tblGrid>
              <a:tr h="538480">
                <a:tc>
                  <a:txBody>
                    <a:bodyPr/>
                    <a:lstStyle/>
                    <a:p>
                      <a:pPr>
                        <a:defRPr sz="1400" b="1" i="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Area</a:t>
                      </a:r>
                    </a:p>
                  </a:txBody>
                  <a:tcPr marL="109728" marT="45720" marB="45720">
                    <a:solidFill>
                      <a:srgbClr val="0E20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 i="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Detail</a:t>
                      </a:r>
                    </a:p>
                  </a:txBody>
                  <a:tcPr marL="109728" marT="45720" marB="45720">
                    <a:solidFill>
                      <a:srgbClr val="0E204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250" b="1" i="0">
                          <a:solidFill>
                            <a:srgbClr val="0E204F"/>
                          </a:solidFill>
                          <a:latin typeface="Times New Roman"/>
                        </a:defRPr>
                      </a:pPr>
                      <a:r>
                        <a:t>NFR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 i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Core app functions fully even when the AI/LLM service is unreachable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250" b="1" i="0">
                          <a:solidFill>
                            <a:srgbClr val="0E204F"/>
                          </a:solidFill>
                          <a:latin typeface="Times New Roman"/>
                        </a:defRPr>
                      </a:pPr>
                      <a:r>
                        <a:t>NFR</a:t>
                      </a:r>
                    </a:p>
                  </a:txBody>
                  <a:tcPr marL="109728" marT="36576" marB="36576"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 i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Web and desktop share all business logic — both are thin clients over core</a:t>
                      </a:r>
                    </a:p>
                  </a:txBody>
                  <a:tcPr marL="109728" marT="36576" marB="36576">
                    <a:solidFill>
                      <a:srgbClr val="E3E3E3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250" b="1" i="0">
                          <a:solidFill>
                            <a:srgbClr val="0E204F"/>
                          </a:solidFill>
                          <a:latin typeface="Times New Roman"/>
                        </a:defRPr>
                      </a:pPr>
                      <a:r>
                        <a:t>NFR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 i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Metrics always come from analytics/risk/simulation, never inline in controllers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250" b="1" i="0">
                          <a:solidFill>
                            <a:srgbClr val="0E204F"/>
                          </a:solidFill>
                          <a:latin typeface="Times New Roman"/>
                        </a:defRPr>
                      </a:pPr>
                      <a:r>
                        <a:t>NFR</a:t>
                      </a:r>
                    </a:p>
                  </a:txBody>
                  <a:tcPr marL="109728" marT="36576" marB="36576"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 i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Market-data fetches run concurrently via ExecutorService, never sequentially</a:t>
                      </a:r>
                    </a:p>
                  </a:txBody>
                  <a:tcPr marL="109728" marT="36576" marB="36576">
                    <a:solidFill>
                      <a:srgbClr val="E3E3E3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250" b="1" i="0">
                          <a:solidFill>
                            <a:srgbClr val="0E204F"/>
                          </a:solidFill>
                          <a:latin typeface="Times New Roman"/>
                        </a:defRPr>
                      </a:pPr>
                      <a:r>
                        <a:t>Open Q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 i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Market-data API provider not yet selected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250" b="1" i="0">
                          <a:solidFill>
                            <a:srgbClr val="0E204F"/>
                          </a:solidFill>
                          <a:latin typeface="Times New Roman"/>
                        </a:defRPr>
                      </a:pPr>
                      <a:r>
                        <a:t>Open Q</a:t>
                      </a:r>
                    </a:p>
                  </a:txBody>
                  <a:tcPr marL="109728" marT="36576" marB="36576"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 i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LLM API provider not yet selected</a:t>
                      </a:r>
                    </a:p>
                  </a:txBody>
                  <a:tcPr marL="109728" marT="36576" marB="36576">
                    <a:solidFill>
                      <a:srgbClr val="E3E3E3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250" b="1" i="0">
                          <a:solidFill>
                            <a:srgbClr val="0E204F"/>
                          </a:solidFill>
                          <a:latin typeface="Times New Roman"/>
                        </a:defRPr>
                      </a:pPr>
                      <a:r>
                        <a:t>Open Q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 i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JSP hosting: embedded Tomcat vs. external container (Phase 0 spike)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250" b="1" i="0">
                          <a:solidFill>
                            <a:srgbClr val="0E204F"/>
                          </a:solidFill>
                          <a:latin typeface="Times New Roman"/>
                        </a:defRPr>
                      </a:pPr>
                      <a:r>
                        <a:t>Open Q</a:t>
                      </a:r>
                    </a:p>
                  </a:txBody>
                  <a:tcPr marL="109728" marT="36576" marB="36576"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 i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Migration tooling: Flyway vs. lightweight custom SQL runner</a:t>
                      </a:r>
                    </a:p>
                  </a:txBody>
                  <a:tcPr marL="109728" marT="36576" marB="36576">
                    <a:solidFill>
                      <a:srgbClr val="E3E3E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728655" y="641908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000000"/>
                </a:solidFill>
                <a:latin typeface="Times New Roman"/>
              </a:defRPr>
            </a:pPr>
            <a:r>
              <a:t>22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000000"/>
                </a:solidFill>
                <a:latin typeface="Times New Roman"/>
              </a:defRPr>
            </a:pPr>
            <a:r>
              <a:t>ArgosQuant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0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410712"/>
            <a:ext cx="12191695" cy="36576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FFFFFF"/>
                </a:solidFill>
                <a:latin typeface="Times New Roman"/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1188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E3E3E3"/>
                </a:solidFill>
                <a:latin typeface="Times New Roman"/>
              </a:defRPr>
            </a:pPr>
            <a:r>
              <a:t>Next step: Phase 0 — Maven reactor &amp; scaffolding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